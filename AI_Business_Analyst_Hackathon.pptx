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 V Srinitha" userId="5399d69e9ebeec34" providerId="LiveId" clId="{0B6FF9AE-0764-489D-A072-D6A9A5F9436E}"/>
    <pc:docChg chg="modSld">
      <pc:chgData name="R V Srinitha" userId="5399d69e9ebeec34" providerId="LiveId" clId="{0B6FF9AE-0764-489D-A072-D6A9A5F9436E}" dt="2026-09-26T09:16:41.454" v="35" actId="20577"/>
      <pc:docMkLst>
        <pc:docMk/>
      </pc:docMkLst>
      <pc:sldChg chg="modSp mod">
        <pc:chgData name="R V Srinitha" userId="5399d69e9ebeec34" providerId="LiveId" clId="{0B6FF9AE-0764-489D-A072-D6A9A5F9436E}" dt="2026-09-26T09:16:41.454" v="35" actId="20577"/>
        <pc:sldMkLst>
          <pc:docMk/>
          <pc:sldMk cId="0" sldId="256"/>
        </pc:sldMkLst>
        <pc:spChg chg="mod">
          <ac:chgData name="R V Srinitha" userId="5399d69e9ebeec34" providerId="LiveId" clId="{0B6FF9AE-0764-489D-A072-D6A9A5F9436E}" dt="2026-09-26T09:16:41.454" v="35" actId="20577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1683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2A2350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389120"/>
            <a:ext cx="4572000" cy="4572000"/>
          </a:xfrm>
          <a:prstGeom prst="ellipse">
            <a:avLst/>
          </a:prstGeom>
          <a:solidFill>
            <a:srgbClr val="141A2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#04 · AI DECISION ENGINE FOR BUSINESS DATA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Business Analyst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Decision Engine for Business Data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2926080" cy="0"/>
          </a:xfrm>
          <a:prstGeom prst="line">
            <a:avLst/>
          </a:prstGeom>
          <a:noFill/>
          <a:ln w="25400">
            <a:solidFill>
              <a:srgbClr val="7C5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2519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“Ask your business data a question. Get an evidence-backed answer.”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BFWAI / HACK 26      ·      Shruthi Keerthana A | Srinitha R 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answers still take too long to reach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537192" y="40233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A23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537192" y="40233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Context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160520" cy="420624"/>
          </a:xfrm>
          <a:prstGeom prst="roundRect">
            <a:avLst>
              <a:gd name="adj" fmla="val 17391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9164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spreadsheets / scattered data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21122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58568"/>
            <a:ext cx="4160520" cy="420624"/>
          </a:xfrm>
          <a:prstGeom prst="roundRect">
            <a:avLst>
              <a:gd name="adj" fmla="val 17391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258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cleaning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26791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825496"/>
            <a:ext cx="4160520" cy="420624"/>
          </a:xfrm>
          <a:prstGeom prst="roundRect">
            <a:avLst>
              <a:gd name="adj" fmla="val 17391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82549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/ SQL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2461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4160520" cy="420624"/>
          </a:xfrm>
          <a:prstGeom prst="roundRect">
            <a:avLst>
              <a:gd name="adj" fmla="val 17391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39242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3813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959352"/>
            <a:ext cx="4160520" cy="420624"/>
          </a:xfrm>
          <a:prstGeom prst="roundRect">
            <a:avLst>
              <a:gd name="adj" fmla="val 17391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95935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43799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4160520" cy="420624"/>
          </a:xfrm>
          <a:prstGeom prst="roundRect">
            <a:avLst>
              <a:gd name="adj" fmla="val 17391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52628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74920" y="1572768"/>
            <a:ext cx="6583680" cy="640080"/>
          </a:xfrm>
          <a:prstGeom prst="roundRect">
            <a:avLst>
              <a:gd name="adj" fmla="val 11429"/>
            </a:avLst>
          </a:prstGeom>
          <a:solidFill>
            <a:srgbClr val="141A29"/>
          </a:solidFill>
          <a:ln/>
        </p:spPr>
      </p:sp>
      <p:sp>
        <p:nvSpPr>
          <p:cNvPr id="24" name="Shape 22"/>
          <p:cNvSpPr/>
          <p:nvPr/>
        </p:nvSpPr>
        <p:spPr>
          <a:xfrm>
            <a:off x="5257800" y="1746504"/>
            <a:ext cx="292608" cy="292608"/>
          </a:xfrm>
          <a:prstGeom prst="ellipse">
            <a:avLst/>
          </a:prstGeom>
          <a:solidFill>
            <a:srgbClr val="3A1F2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257800" y="1746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161848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187452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arrive after the decision window has passed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74920" y="2304288"/>
            <a:ext cx="6583680" cy="640080"/>
          </a:xfrm>
          <a:prstGeom prst="roundRect">
            <a:avLst>
              <a:gd name="adj" fmla="val 11429"/>
            </a:avLst>
          </a:prstGeom>
          <a:solidFill>
            <a:srgbClr val="141A29"/>
          </a:solidFill>
          <a:ln/>
        </p:spPr>
      </p:sp>
      <p:sp>
        <p:nvSpPr>
          <p:cNvPr id="29" name="Shape 27"/>
          <p:cNvSpPr/>
          <p:nvPr/>
        </p:nvSpPr>
        <p:spPr>
          <a:xfrm>
            <a:off x="5257800" y="2478024"/>
            <a:ext cx="292608" cy="292608"/>
          </a:xfrm>
          <a:prstGeom prst="ellipse">
            <a:avLst/>
          </a:prstGeom>
          <a:solidFill>
            <a:srgbClr val="3A1F2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257800" y="2478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235000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technical skill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0" y="26060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formulas gate who can even ask a question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74920" y="3035808"/>
            <a:ext cx="6583680" cy="640080"/>
          </a:xfrm>
          <a:prstGeom prst="roundRect">
            <a:avLst>
              <a:gd name="adj" fmla="val 11429"/>
            </a:avLst>
          </a:prstGeom>
          <a:solidFill>
            <a:srgbClr val="141A29"/>
          </a:solidFill>
          <a:ln/>
        </p:spPr>
      </p:sp>
      <p:sp>
        <p:nvSpPr>
          <p:cNvPr id="34" name="Shape 32"/>
          <p:cNvSpPr/>
          <p:nvPr/>
        </p:nvSpPr>
        <p:spPr>
          <a:xfrm>
            <a:off x="5257800" y="3209544"/>
            <a:ext cx="292608" cy="292608"/>
          </a:xfrm>
          <a:prstGeom prst="ellipse">
            <a:avLst/>
          </a:prstGeom>
          <a:solidFill>
            <a:srgbClr val="3A1F2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257800" y="3209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0" y="30815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trace reasoning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0" y="333756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land with no visible working behind them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74920" y="3767328"/>
            <a:ext cx="6583680" cy="640080"/>
          </a:xfrm>
          <a:prstGeom prst="roundRect">
            <a:avLst>
              <a:gd name="adj" fmla="val 11429"/>
            </a:avLst>
          </a:prstGeom>
          <a:solidFill>
            <a:srgbClr val="141A29"/>
          </a:solidFill>
          <a:ln/>
        </p:spPr>
      </p:sp>
      <p:sp>
        <p:nvSpPr>
          <p:cNvPr id="39" name="Shape 37"/>
          <p:cNvSpPr/>
          <p:nvPr/>
        </p:nvSpPr>
        <p:spPr>
          <a:xfrm>
            <a:off x="5257800" y="3941064"/>
            <a:ext cx="292608" cy="292608"/>
          </a:xfrm>
          <a:prstGeom prst="ellipse">
            <a:avLst/>
          </a:prstGeom>
          <a:solidFill>
            <a:srgbClr val="3A1F2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257800" y="3941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669280" y="381304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Manual-error prone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5669280" y="40690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and formula slips corrupt results silently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074920" y="4498848"/>
            <a:ext cx="6583680" cy="640080"/>
          </a:xfrm>
          <a:prstGeom prst="roundRect">
            <a:avLst>
              <a:gd name="adj" fmla="val 11429"/>
            </a:avLst>
          </a:prstGeom>
          <a:solidFill>
            <a:srgbClr val="141A29"/>
          </a:solidFill>
          <a:ln/>
        </p:spPr>
      </p:sp>
      <p:sp>
        <p:nvSpPr>
          <p:cNvPr id="44" name="Shape 42"/>
          <p:cNvSpPr/>
          <p:nvPr/>
        </p:nvSpPr>
        <p:spPr>
          <a:xfrm>
            <a:off x="5257800" y="4672584"/>
            <a:ext cx="292608" cy="292608"/>
          </a:xfrm>
          <a:prstGeom prst="ellipse">
            <a:avLst/>
          </a:prstGeom>
          <a:solidFill>
            <a:srgbClr val="3A1F2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257800" y="4672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669280" y="454456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are delayed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5669280" y="48006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chart exists, the moment has moved on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2338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77240" y="55961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users are business analysts, operations and sales teams, and managers at small and mid-sized businesses that run on spreadsheets and CSV exports rather than dedicated BI stacks. Their business data lives scattered across these files, and today reaching a trustworthy answer means manual cleaning, formulas, and guesswork. Our solution addresses the step between “having the data” and “trusting an answer” — turning a natural-language question into a traceable, evidence-backed result.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ANALYST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BFWAI / HACK 26 · PS #04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engine: Upload → Ask → Decide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439527" cy="1371600"/>
          </a:xfrm>
          <a:prstGeom prst="roundRect">
            <a:avLst>
              <a:gd name="adj" fmla="val 6667"/>
            </a:avLst>
          </a:prstGeom>
          <a:solidFill>
            <a:srgbClr val="7C5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2212848"/>
            <a:ext cx="12566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12566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992739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52759" y="2103120"/>
            <a:ext cx="1439527" cy="1371600"/>
          </a:xfrm>
          <a:prstGeom prst="roundRect">
            <a:avLst>
              <a:gd name="adj" fmla="val 6667"/>
            </a:avLst>
          </a:prstGeom>
          <a:solidFill>
            <a:srgbClr val="141A2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62487" y="2212848"/>
            <a:ext cx="12566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244199" y="2606040"/>
            <a:ext cx="12566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96858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56878" y="2103120"/>
            <a:ext cx="1439527" cy="1371600"/>
          </a:xfrm>
          <a:prstGeom prst="roundRect">
            <a:avLst>
              <a:gd name="adj" fmla="val 6667"/>
            </a:avLst>
          </a:prstGeom>
          <a:solidFill>
            <a:srgbClr val="141A2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866606" y="2212848"/>
            <a:ext cx="12566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848318" y="2606040"/>
            <a:ext cx="12566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200977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60997" y="2103120"/>
            <a:ext cx="1439527" cy="1371600"/>
          </a:xfrm>
          <a:prstGeom prst="roundRect">
            <a:avLst>
              <a:gd name="adj" fmla="val 6667"/>
            </a:avLst>
          </a:prstGeom>
          <a:solidFill>
            <a:srgbClr val="141A2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70725" y="2212848"/>
            <a:ext cx="12566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52437" y="2606040"/>
            <a:ext cx="12566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05095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65115" y="2103120"/>
            <a:ext cx="1439527" cy="1371600"/>
          </a:xfrm>
          <a:prstGeom prst="roundRect">
            <a:avLst>
              <a:gd name="adj" fmla="val 6667"/>
            </a:avLst>
          </a:prstGeom>
          <a:solidFill>
            <a:srgbClr val="141A2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74843" y="2212848"/>
            <a:ext cx="12566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056555" y="2606040"/>
            <a:ext cx="12566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409214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569234" y="2103120"/>
            <a:ext cx="1439527" cy="1371600"/>
          </a:xfrm>
          <a:prstGeom prst="roundRect">
            <a:avLst>
              <a:gd name="adj" fmla="val 6667"/>
            </a:avLst>
          </a:prstGeom>
          <a:solidFill>
            <a:srgbClr val="141A2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78962" y="2212848"/>
            <a:ext cx="12566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660674" y="2606040"/>
            <a:ext cx="12566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013333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173353" y="2103120"/>
            <a:ext cx="1439527" cy="1371600"/>
          </a:xfrm>
          <a:prstGeom prst="roundRect">
            <a:avLst>
              <a:gd name="adj" fmla="val 6667"/>
            </a:avLst>
          </a:prstGeom>
          <a:solidFill>
            <a:srgbClr val="7C5CF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283081" y="2212848"/>
            <a:ext cx="12566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264793" y="2606040"/>
            <a:ext cx="12566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977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 bolted onto Excel. Every step — the analysis, the chart, the explanation, and the recommendation — is grounded in the uploaded dataset and shown to the user, not generated blind.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48640" y="470916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4937760"/>
            <a:ext cx="320040" cy="320040"/>
          </a:xfrm>
          <a:prstGeom prst="ellipse">
            <a:avLst/>
          </a:prstGeom>
          <a:solidFill>
            <a:srgbClr val="2A235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7240" y="53492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analysis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56418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 run against real rows and columns, not model guesses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343400" y="470916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4937760"/>
            <a:ext cx="320040" cy="320040"/>
          </a:xfrm>
          <a:prstGeom prst="ellipse">
            <a:avLst/>
          </a:prstGeom>
          <a:solidFill>
            <a:srgbClr val="2A235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572000" y="53492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0" y="56418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links back to the data and logic that produced it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138160" y="470916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66760" y="4937760"/>
            <a:ext cx="320040" cy="320040"/>
          </a:xfrm>
          <a:prstGeom prst="ellipse">
            <a:avLst/>
          </a:prstGeom>
          <a:solidFill>
            <a:srgbClr val="2A235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366760" y="53492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control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366760" y="56418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recommends; a person approves, rejects, or digs deeper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ANALYST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BFWAI / HACK 26 · PS #04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grounded pipeline, not a guessing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8973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691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18973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691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7889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question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9946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43400" y="278892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2A2350"/>
          </a:solidFill>
          <a:ln w="15875">
            <a:solidFill>
              <a:srgbClr val="7C5C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27889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 / analysis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818120" y="29946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2A2350"/>
          </a:solidFill>
          <a:ln w="15875">
            <a:solidFill>
              <a:srgbClr val="7C5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27889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computation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886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40919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43400" y="388620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80560" y="3886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explanation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818120" y="40919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38160" y="388620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75320" y="3886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B2338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6235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invents numbers. Every calculation runs as a verified query over the dataset; the model explains and contextualizes results it did not compute freehand.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ANALYST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BFWAI / HACK 26 · PS #04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EXPERIENCE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realistic interaction,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3840480" cy="502920"/>
          </a:xfrm>
          <a:prstGeom prst="roundRect">
            <a:avLst>
              <a:gd name="adj" fmla="val 25455"/>
            </a:avLst>
          </a:prstGeom>
          <a:solidFill>
            <a:srgbClr val="7C5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revenue decrease in July?”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1051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2788920"/>
            <a:ext cx="4480560" cy="3246120"/>
          </a:xfrm>
          <a:prstGeom prst="roundRect">
            <a:avLst>
              <a:gd name="adj" fmla="val 2817"/>
            </a:avLst>
          </a:prstGeom>
          <a:solidFill>
            <a:srgbClr val="1B2338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decreased by [X]% vs. June.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3649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6027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June revenue: [value]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84962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July revenue: [value]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0965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Largest contributing segment: [value]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4805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05840" y="470916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9525">
            <a:solidFill>
              <a:srgbClr val="262E42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1005840" y="47091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chart placeholder — monthly revenue trend ]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54864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EXPLANATION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57058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short, grounded explanation of the driver behind the change ]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17830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notes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89320" y="2286000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141A2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0" y="228600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 are used throughout — the deck does not invent dataset results.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89320" y="2999232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141A2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17920" y="299923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pairs a plain-language answer with the evidence behind it.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89320" y="3712464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141A2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0" y="371246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are generated from the same verified computation, not drawn freehand.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89320" y="4425696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141A2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17920" y="442569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explanation stays scoped to what the evidence actually supports.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ANALYST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BFWAI / HACK 26 · PS #04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answer is auditable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445752" y="402336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2A23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445752" y="40233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Trace &amp; Failures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2286000"/>
            <a:ext cx="292608" cy="29260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33856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65176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993392" y="25831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48840" y="214884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1B2338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34056" y="2286000"/>
            <a:ext cx="292608" cy="29260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34056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221992" y="265176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25831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49040" y="214884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34256" y="2286000"/>
            <a:ext cx="292608" cy="29260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34256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822192" y="265176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used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193792" y="25831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49240" y="214884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1B2338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34456" y="2286000"/>
            <a:ext cx="292608" cy="29260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34456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22392" y="265176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/ query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793992" y="25831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949440" y="214884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34656" y="2286000"/>
            <a:ext cx="292608" cy="29260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534656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022592" y="265176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394192" y="25831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49640" y="214884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1B2338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34856" y="2286000"/>
            <a:ext cx="292608" cy="29260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134856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622792" y="265176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994392" y="25831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149840" y="214884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35056" y="2286000"/>
            <a:ext cx="292608" cy="29260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735056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0222992" y="265176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3703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C5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“Every important answer should be auditable.”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48640" y="43434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141A29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2960" y="45262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HANDLING, NOT HIDDEN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22960" y="48463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dataset does not contain enough evidence to determine a cause, the system states that there is insufficient evidence — rather than inventing an explanation.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ANALYST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BFWAI / HACK 26 · PS #04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our own scored eval 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354312" y="402336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2A23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54312" y="40233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Own Evaluation Set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~10–20 verified business questions, with a known correct answer checked against the system's output.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2A23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17520" y="214884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2A23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17520" y="2148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0" y="214884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2A23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0" y="2148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2A23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17520" y="260604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2A235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017520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260604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2A23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0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/ explanation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11064240" cy="384048"/>
          </a:xfrm>
          <a:prstGeom prst="roundRect">
            <a:avLst>
              <a:gd name="adj" fmla="val 14286"/>
            </a:avLst>
          </a:prstGeom>
          <a:solidFill>
            <a:srgbClr val="1B233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3246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3246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246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646920" y="32461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630168"/>
            <a:ext cx="11064240" cy="457200"/>
          </a:xfrm>
          <a:prstGeom prst="rect">
            <a:avLst/>
          </a:prstGeom>
          <a:solidFill>
            <a:srgbClr val="141A29"/>
          </a:solidFill>
          <a:ln w="6350">
            <a:solidFill>
              <a:srgbClr val="262E4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6301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 generated the highest revenue?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709160" y="3630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[verified value]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630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[system output]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646920" y="3630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087368"/>
            <a:ext cx="11064240" cy="457200"/>
          </a:xfrm>
          <a:prstGeom prst="rect">
            <a:avLst/>
          </a:prstGeom>
          <a:solidFill>
            <a:srgbClr val="0A0E17"/>
          </a:solidFill>
          <a:ln w="6350">
            <a:solidFill>
              <a:srgbClr val="262E4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40873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declined the most in Q2?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709160" y="4087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[verified value]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087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[system output]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646920" y="40873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544568"/>
            <a:ext cx="11064240" cy="457200"/>
          </a:xfrm>
          <a:prstGeom prst="rect">
            <a:avLst/>
          </a:prstGeom>
          <a:solidFill>
            <a:srgbClr val="141A29"/>
          </a:solidFill>
          <a:ln w="6350">
            <a:solidFill>
              <a:srgbClr val="262E4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4544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monthly sales trend?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709160" y="45445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[verified value]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45445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[system output]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646920" y="4544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1389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placeholders until the evaluation set is run against the built system — no scores are invented ahead of testing.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ANALYST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BFWAI / HACK 26 · PS #04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VS. RESULT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when the engine is in the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445752" y="402336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2A23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445752" y="40233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Baseline vs Result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384048"/>
          </a:xfrm>
          <a:prstGeom prst="roundRect">
            <a:avLst>
              <a:gd name="adj" fmla="val 14286"/>
            </a:avLst>
          </a:prstGeom>
          <a:solidFill>
            <a:srgbClr val="1B233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6916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TODAY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16916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ENGINE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075688"/>
            <a:ext cx="11064240" cy="603504"/>
          </a:xfrm>
          <a:prstGeom prst="rect">
            <a:avLst/>
          </a:prstGeom>
          <a:solidFill>
            <a:srgbClr val="141A29"/>
          </a:solidFill>
          <a:ln w="6350">
            <a:solidFill>
              <a:srgbClr val="262E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07568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 question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07568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to hours (manual)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207568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measured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679192"/>
            <a:ext cx="11064240" cy="603504"/>
          </a:xfrm>
          <a:prstGeom prst="rect">
            <a:avLst/>
          </a:prstGeom>
          <a:solidFill>
            <a:srgbClr val="0A0E17"/>
          </a:solidFill>
          <a:ln w="6350">
            <a:solidFill>
              <a:srgbClr val="262E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267919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steps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67919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→ formula → chart → read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267919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→ review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282696"/>
            <a:ext cx="11064240" cy="603504"/>
          </a:xfrm>
          <a:prstGeom prst="rect">
            <a:avLst/>
          </a:prstGeom>
          <a:solidFill>
            <a:srgbClr val="141A29"/>
          </a:solidFill>
          <a:ln w="6350">
            <a:solidFill>
              <a:srgbClr val="262E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28269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expertise required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282696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spreadsheet skill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3282696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11064240" cy="603504"/>
          </a:xfrm>
          <a:prstGeom prst="rect">
            <a:avLst/>
          </a:prstGeom>
          <a:solidFill>
            <a:srgbClr val="0A0E17"/>
          </a:solidFill>
          <a:ln w="6350">
            <a:solidFill>
              <a:srgbClr val="262E4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88620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88620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undocumented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388620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 by design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489704"/>
            <a:ext cx="11064240" cy="603504"/>
          </a:xfrm>
          <a:prstGeom prst="rect">
            <a:avLst/>
          </a:prstGeom>
          <a:solidFill>
            <a:srgbClr val="141A29"/>
          </a:solidFill>
          <a:ln w="6350">
            <a:solidFill>
              <a:srgbClr val="262E4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4489704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448970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the analyst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138160" y="448970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measured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093208"/>
            <a:ext cx="11064240" cy="603504"/>
          </a:xfrm>
          <a:prstGeom prst="rect">
            <a:avLst/>
          </a:prstGeom>
          <a:solidFill>
            <a:srgbClr val="0A0E17"/>
          </a:solidFill>
          <a:ln w="6350">
            <a:solidFill>
              <a:srgbClr val="262E4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509320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speed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509320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Delayed, batch-driven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138160" y="509320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measured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83387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gains (fewer steps, no technical gate, built-in traceability) are true by design. Performance numbers are intentionally left as “to be measured” until real evaluation runs.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ANALYST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BFWAI / HACK 26 · PS #04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recommends. A person decides.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537192" y="40233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A23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537192" y="40233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Human Approval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965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944368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08960" y="19659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1965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504688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0" y="19659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1965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3017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7C5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4290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REVIEWS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42519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2606040" cy="640080"/>
          </a:xfrm>
          <a:prstGeom prst="roundRect">
            <a:avLst>
              <a:gd name="adj" fmla="val 50000"/>
            </a:avLst>
          </a:prstGeom>
          <a:solidFill>
            <a:srgbClr val="1B23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663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4663440"/>
            <a:ext cx="2606040" cy="640080"/>
          </a:xfrm>
          <a:prstGeom prst="roundRect">
            <a:avLst>
              <a:gd name="adj" fmla="val 50000"/>
            </a:avLst>
          </a:prstGeom>
          <a:solidFill>
            <a:srgbClr val="1B2338"/>
          </a:solidFill>
          <a:ln w="15875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37560" y="4663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4663440"/>
            <a:ext cx="2606040" cy="640080"/>
          </a:xfrm>
          <a:prstGeom prst="roundRect">
            <a:avLst>
              <a:gd name="adj" fmla="val 50000"/>
            </a:avLst>
          </a:prstGeom>
          <a:solidFill>
            <a:srgbClr val="1B2338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26480" y="4663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more analysis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732520" y="19659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732520" y="2331720"/>
            <a:ext cx="2926080" cy="2971800"/>
          </a:xfrm>
          <a:prstGeom prst="roundRect">
            <a:avLst>
              <a:gd name="adj" fmla="val 2500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61120" y="251460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decisions carry real cost. The system's job is to remove the grunt work of reaching an answer — not to remove the person who is accountable for acting on it.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ANALYST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BFWAI / HACK 26 · PS #04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HANDLING &amp; TRUST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to say “I don’t know” when it doesn’t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29968"/>
            <a:ext cx="292608" cy="292608"/>
          </a:xfrm>
          <a:prstGeom prst="ellipse">
            <a:avLst/>
          </a:prstGeom>
          <a:solidFill>
            <a:srgbClr val="3A1F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29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Insufficient 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971800"/>
            <a:ext cx="3154680" cy="1188720"/>
          </a:xfrm>
          <a:prstGeom prst="roundRect">
            <a:avLst>
              <a:gd name="adj" fmla="val 4615"/>
            </a:avLst>
          </a:prstGeom>
          <a:solidFill>
            <a:srgbClr val="0A0E17"/>
          </a:solidFill>
          <a:ln w="6350">
            <a:solidFill>
              <a:srgbClr val="262E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9718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cannot determine the cause from the available dataset.”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3434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the limit instead of guessing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029968"/>
            <a:ext cx="292608" cy="292608"/>
          </a:xfrm>
          <a:prstGeom prst="ellipse">
            <a:avLst/>
          </a:prstGeom>
          <a:solidFill>
            <a:srgbClr val="3A1F2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2029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4231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Ambiguous question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0" y="2971800"/>
            <a:ext cx="3154680" cy="1188720"/>
          </a:xfrm>
          <a:prstGeom prst="roundRect">
            <a:avLst>
              <a:gd name="adj" fmla="val 4615"/>
            </a:avLst>
          </a:prstGeom>
          <a:solidFill>
            <a:srgbClr val="0A0E17"/>
          </a:solidFill>
          <a:ln w="6350">
            <a:solidFill>
              <a:srgbClr val="262E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09160" y="29718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user for clarification before analyzing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3434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answering the wrong question confidently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78308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2029968"/>
            <a:ext cx="292608" cy="292608"/>
          </a:xfrm>
          <a:prstGeom prst="ellipse">
            <a:avLst/>
          </a:prstGeom>
          <a:solidFill>
            <a:srgbClr val="3A1F2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66760" y="2029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24231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Calculation / validation failure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366760" y="2971800"/>
            <a:ext cx="3154680" cy="1188720"/>
          </a:xfrm>
          <a:prstGeom prst="roundRect">
            <a:avLst>
              <a:gd name="adj" fmla="val 4615"/>
            </a:avLst>
          </a:prstGeom>
          <a:solidFill>
            <a:srgbClr val="0A0E17"/>
          </a:solidFill>
          <a:ln w="6350">
            <a:solidFill>
              <a:srgbClr val="262E4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03920" y="29718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the answer rather than presenting it as reliable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43434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ships an unverified number as fact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AI, not confident guessing: uncertainty is surfaced, not hidden.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ANALYST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BFWAI / HACK 26 · PS #04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engine, every function that runs on spreadsheets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35680" cy="1417320"/>
          </a:xfrm>
          <a:prstGeom prst="roundRect">
            <a:avLst>
              <a:gd name="adj" fmla="val 6452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29968"/>
            <a:ext cx="365760" cy="365760"/>
          </a:xfrm>
          <a:prstGeom prst="ellipse">
            <a:avLst/>
          </a:prstGeom>
          <a:solidFill>
            <a:srgbClr val="2A23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87168"/>
            <a:ext cx="307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79776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revenue by segment, win-rate questions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2920" y="1828800"/>
            <a:ext cx="3535680" cy="1417320"/>
          </a:xfrm>
          <a:prstGeom prst="roundRect">
            <a:avLst>
              <a:gd name="adj" fmla="val 6452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1520" y="2029968"/>
            <a:ext cx="365760" cy="365760"/>
          </a:xfrm>
          <a:prstGeom prst="ellipse">
            <a:avLst/>
          </a:prstGeom>
          <a:solidFill>
            <a:srgbClr val="2A23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4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41520" y="2487168"/>
            <a:ext cx="307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41520" y="2779776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Throughput, bottlenecks, process anomalies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77200" y="1828800"/>
            <a:ext cx="3535680" cy="1417320"/>
          </a:xfrm>
          <a:prstGeom prst="roundRect">
            <a:avLst>
              <a:gd name="adj" fmla="val 6452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5800" y="2029968"/>
            <a:ext cx="365760" cy="365760"/>
          </a:xfrm>
          <a:prstGeom prst="ellipse">
            <a:avLst/>
          </a:prstGeom>
          <a:solidFill>
            <a:srgbClr val="2A235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0580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05800" y="2487168"/>
            <a:ext cx="307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05800" y="2779776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trends, variance, budget vs. actuals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3535680" cy="1417320"/>
          </a:xfrm>
          <a:prstGeom prst="roundRect">
            <a:avLst>
              <a:gd name="adj" fmla="val 6452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675888"/>
            <a:ext cx="365760" cy="365760"/>
          </a:xfrm>
          <a:prstGeom prst="ellipse">
            <a:avLst/>
          </a:prstGeom>
          <a:solidFill>
            <a:srgbClr val="2A235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133088"/>
            <a:ext cx="307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analytics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425696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value, churn signals, cohort behavior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12920" y="3474720"/>
            <a:ext cx="3535680" cy="1417320"/>
          </a:xfrm>
          <a:prstGeom prst="roundRect">
            <a:avLst>
              <a:gd name="adj" fmla="val 6452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41520" y="3675888"/>
            <a:ext cx="365760" cy="365760"/>
          </a:xfrm>
          <a:prstGeom prst="ellipse">
            <a:avLst/>
          </a:prstGeom>
          <a:solidFill>
            <a:srgbClr val="2A235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41520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41520" y="4133088"/>
            <a:ext cx="307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41520" y="4425696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levels, turnover, reorder timing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77200" y="3474720"/>
            <a:ext cx="3535680" cy="1417320"/>
          </a:xfrm>
          <a:prstGeom prst="roundRect">
            <a:avLst>
              <a:gd name="adj" fmla="val 6452"/>
            </a:avLst>
          </a:prstGeom>
          <a:solidFill>
            <a:srgbClr val="141A29"/>
          </a:solidFill>
          <a:ln w="9525">
            <a:solidFill>
              <a:srgbClr val="262E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5800" y="3675888"/>
            <a:ext cx="365760" cy="365760"/>
          </a:xfrm>
          <a:prstGeom prst="ellipse">
            <a:avLst/>
          </a:prstGeom>
          <a:solidFill>
            <a:srgbClr val="2A235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05800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305800" y="4133088"/>
            <a:ext cx="307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05800" y="4425696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performance, channel contribution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ANALYST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BFWAI / HACK 26 · PS #04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A23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scattered business data to traceable decisions.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029968" cy="1280160"/>
          </a:xfrm>
          <a:prstGeom prst="roundRect">
            <a:avLst>
              <a:gd name="adj" fmla="val 7143"/>
            </a:avLst>
          </a:prstGeom>
          <a:solidFill>
            <a:srgbClr val="141A2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194560"/>
            <a:ext cx="2029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2587752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07208" y="2194560"/>
            <a:ext cx="2029968" cy="1280160"/>
          </a:xfrm>
          <a:prstGeom prst="roundRect">
            <a:avLst>
              <a:gd name="adj" fmla="val 7143"/>
            </a:avLst>
          </a:prstGeom>
          <a:solidFill>
            <a:srgbClr val="141A2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2194560"/>
            <a:ext cx="2029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65776" y="2194560"/>
            <a:ext cx="2029968" cy="1280160"/>
          </a:xfrm>
          <a:prstGeom prst="roundRect">
            <a:avLst>
              <a:gd name="adj" fmla="val 7143"/>
            </a:avLst>
          </a:prstGeom>
          <a:solidFill>
            <a:srgbClr val="141A2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65776" y="2194560"/>
            <a:ext cx="2029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104888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24344" y="2194560"/>
            <a:ext cx="2029968" cy="1280160"/>
          </a:xfrm>
          <a:prstGeom prst="roundRect">
            <a:avLst>
              <a:gd name="adj" fmla="val 7143"/>
            </a:avLst>
          </a:prstGeom>
          <a:solidFill>
            <a:srgbClr val="141A2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24344" y="2194560"/>
            <a:ext cx="2029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363456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82912" y="2194560"/>
            <a:ext cx="2029968" cy="1280160"/>
          </a:xfrm>
          <a:prstGeom prst="roundRect">
            <a:avLst>
              <a:gd name="adj" fmla="val 7143"/>
            </a:avLst>
          </a:prstGeom>
          <a:solidFill>
            <a:srgbClr val="7C5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82912" y="2194560"/>
            <a:ext cx="2029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977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the five hackathon proof points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A235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43484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Baseline vs Result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88920" y="44348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A235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788920" y="443484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Own Evaluation Set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0" y="44348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A235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29200" y="443484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Human Approval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269480" y="44348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A235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269480" y="443484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Trace &amp; Failures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09760" y="44348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A235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509760" y="443484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Context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3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your business data a question. Get an evidence-backed answer.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ANALYST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9171432" y="6473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BFWAI / HACK 26 · PS #04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1248</Words>
  <Application>Microsoft Office PowerPoint</Application>
  <PresentationFormat>Widescreen</PresentationFormat>
  <Paragraphs>293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 V Srinitha</cp:lastModifiedBy>
  <cp:revision>1</cp:revision>
  <dcterms:created xsi:type="dcterms:W3CDTF">2026-09-26T08:57:34Z</dcterms:created>
  <dcterms:modified xsi:type="dcterms:W3CDTF">2026-09-26T09:16:48Z</dcterms:modified>
</cp:coreProperties>
</file>